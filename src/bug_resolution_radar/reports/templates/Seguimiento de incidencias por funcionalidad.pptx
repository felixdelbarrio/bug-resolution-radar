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Lato Light"/>
      <p:regular r:id="rId19"/>
      <p:bold r:id="rId20"/>
      <p:italic r:id="rId21"/>
      <p:boldItalic r:id="rId22"/>
    </p:embeddedFont>
    <p:embeddedFont>
      <p:font typeface="Source Serif 4 Black"/>
      <p:bold r:id="rId23"/>
      <p:boldItalic r:id="rId24"/>
    </p:embeddedFont>
    <p:embeddedFont>
      <p:font typeface="Source Serif 4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13E877-C126-4758-9FD7-9134939057FE}">
  <a:tblStyle styleId="{9513E877-C126-4758-9FD7-9134939057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bold.fntdata"/><Relationship Id="rId22" Type="http://schemas.openxmlformats.org/officeDocument/2006/relationships/font" Target="fonts/LatoLight-boldItalic.fntdata"/><Relationship Id="rId21" Type="http://schemas.openxmlformats.org/officeDocument/2006/relationships/font" Target="fonts/LatoLight-italic.fntdata"/><Relationship Id="rId24" Type="http://schemas.openxmlformats.org/officeDocument/2006/relationships/font" Target="fonts/SourceSerif4Black-boldItalic.fntdata"/><Relationship Id="rId23" Type="http://schemas.openxmlformats.org/officeDocument/2006/relationships/font" Target="fonts/SourceSerif4Black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Serif4-bold.fntdata"/><Relationship Id="rId25" Type="http://schemas.openxmlformats.org/officeDocument/2006/relationships/font" Target="fonts/SourceSerif4-regular.fntdata"/><Relationship Id="rId28" Type="http://schemas.openxmlformats.org/officeDocument/2006/relationships/font" Target="fonts/SourceSerif4-boldItalic.fntdata"/><Relationship Id="rId27" Type="http://schemas.openxmlformats.org/officeDocument/2006/relationships/font" Target="fonts/SourceSerif4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5" Type="http://schemas.openxmlformats.org/officeDocument/2006/relationships/font" Target="fonts/Lato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LatoLight-regular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5f4f2105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5f4f2105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60ee2fdaa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60ee2fdaa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05f4f210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05f4f210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5f42b105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5f42b10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f42b105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f42b105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mosca">
  <p:cSld name="CUSTOM_2_2_1">
    <p:bg>
      <p:bgPr>
        <a:solidFill>
          <a:srgbClr val="F7F8F8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Technology_RGB.png"/>
          <p:cNvPicPr preferRelativeResize="0"/>
          <p:nvPr/>
        </p:nvPicPr>
        <p:blipFill rotWithShape="1">
          <a:blip r:embed="rId2">
            <a:alphaModFix/>
          </a:blip>
          <a:srcRect b="32716" l="-18436" r="-12780" t="-78637"/>
          <a:stretch/>
        </p:blipFill>
        <p:spPr>
          <a:xfrm>
            <a:off x="8263200" y="215975"/>
            <a:ext cx="584676" cy="2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sin mosca">
  <p:cSld name="CUSTOM_2_2_1_2">
    <p:bg>
      <p:bgPr>
        <a:solidFill>
          <a:srgbClr val="F7F8F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2" name="Google Shape;12;p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" name="Google Shape;13;p3" title="Technology_RGB.png"/>
          <p:cNvPicPr preferRelativeResize="0"/>
          <p:nvPr/>
        </p:nvPicPr>
        <p:blipFill rotWithShape="1">
          <a:blip r:embed="rId2">
            <a:alphaModFix/>
          </a:blip>
          <a:srcRect b="32716" l="-18436" r="-12780" t="-78637"/>
          <a:stretch/>
        </p:blipFill>
        <p:spPr>
          <a:xfrm>
            <a:off x="8263200" y="215975"/>
            <a:ext cx="584676" cy="2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con mosca">
  <p:cSld name="CUSTOM_2_2_1_1">
    <p:bg>
      <p:bgPr>
        <a:solidFill>
          <a:srgbClr val="F7F8F8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sin mosca">
  <p:cSld name="CUSTOM_2_2_1_1_1">
    <p:bg>
      <p:bgPr>
        <a:solidFill>
          <a:srgbClr val="F7F8F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">
  <p:cSld name="Título y objetos_1_1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4" name="Google Shape;24;p7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 con micro">
  <p:cSld name="Título y objetos_1_1_3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" name="Google Shape;29;p8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con Foto">
  <p:cSld name="Título y objetos_1_1_2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32" name="Google Shape;32;p9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34" name="Google Shape;34;p9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6" name="Google Shape;36;p9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Sand">
  <p:cSld name="Título y objetos_1_1_1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0" title="Technology_RGB.png"/>
          <p:cNvPicPr preferRelativeResize="0"/>
          <p:nvPr/>
        </p:nvPicPr>
        <p:blipFill rotWithShape="1">
          <a:blip r:embed="rId2">
            <a:alphaModFix/>
          </a:blip>
          <a:srcRect b="-41191" l="-10094" r="-18325" t="-18095"/>
          <a:stretch/>
        </p:blipFill>
        <p:spPr>
          <a:xfrm>
            <a:off x="271975" y="239975"/>
            <a:ext cx="927900" cy="4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1">
  <p:cSld name="1_Diapositiva de título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296725" y="3613892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43" name="Google Shape;43;p11" title="Technology_RGB.png"/>
          <p:cNvPicPr preferRelativeResize="0"/>
          <p:nvPr/>
        </p:nvPicPr>
        <p:blipFill rotWithShape="1">
          <a:blip r:embed="rId2">
            <a:alphaModFix/>
          </a:blip>
          <a:srcRect b="32701" l="-36404" r="-21599" t="-59155"/>
          <a:stretch/>
        </p:blipFill>
        <p:spPr>
          <a:xfrm>
            <a:off x="8183200" y="247975"/>
            <a:ext cx="885601" cy="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bento">
  <p:cSld name="1_Diapositiva de título_1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6725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47" name="Google Shape;47;p12" title="Technology_RGB.png"/>
          <p:cNvPicPr preferRelativeResize="0"/>
          <p:nvPr/>
        </p:nvPicPr>
        <p:blipFill rotWithShape="1">
          <a:blip r:embed="rId2">
            <a:alphaModFix/>
          </a:blip>
          <a:srcRect b="32701" l="-36404" r="-21599" t="-59155"/>
          <a:stretch/>
        </p:blipFill>
        <p:spPr>
          <a:xfrm>
            <a:off x="8183200" y="247975"/>
            <a:ext cx="885601" cy="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foto">
  <p:cSld name="1_Diapositiva de título_1_1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296725" y="783555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36115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" name="Google Shape;52;p13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55" name="Google Shape;5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 y objetos">
    <p:bg>
      <p:bgPr>
        <a:solidFill>
          <a:srgbClr val="F7F8F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40725" y="800277"/>
            <a:ext cx="3418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8" name="Google Shape;58;p1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">
  <p:cSld name="Título y objetos_1_1_4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22550" y="1020341"/>
            <a:ext cx="50214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1">
  <p:cSld name="Cierre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1391478" y="2317200"/>
            <a:ext cx="6360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310901" y="246893"/>
            <a:ext cx="85578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"/>
              <a:buNone/>
              <a:defRPr b="1" i="0" sz="2000" u="none" cap="none" strike="noStrik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5">
          <p15:clr>
            <a:srgbClr val="FBAE40"/>
          </p15:clr>
        </p15:guide>
        <p15:guide id="2" pos="310">
          <p15:clr>
            <a:srgbClr val="FBAE40"/>
          </p15:clr>
        </p15:guide>
        <p15:guide id="3" pos="5653">
          <p15:clr>
            <a:srgbClr val="FBAE40"/>
          </p15:clr>
        </p15:guide>
        <p15:guide id="4" orient="horz" pos="28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marcianito">
  <p:cSld name="CUSTOM_3_1">
    <p:bg>
      <p:bgPr>
        <a:solidFill>
          <a:srgbClr val="1E7D8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ira.globaldevtools.bbva.com/browse/MEXBMI1-283554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jira.globaldevtools.bbva.com/browse/MEXBMI1-28355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jira.globaldevtools.bbva.com/browse/MEXBMI1-28355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/>
          <p:nvPr/>
        </p:nvSpPr>
        <p:spPr>
          <a:xfrm>
            <a:off x="348300" y="278925"/>
            <a:ext cx="8460900" cy="4520100"/>
          </a:xfrm>
          <a:prstGeom prst="roundRect">
            <a:avLst>
              <a:gd fmla="val 4831" name="adj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1"/>
          <p:cNvSpPr txBox="1"/>
          <p:nvPr/>
        </p:nvSpPr>
        <p:spPr>
          <a:xfrm>
            <a:off x="783150" y="745500"/>
            <a:ext cx="7591200" cy="30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Detalle, de las incidencias críticas, abiertas por funcionalidad</a:t>
            </a:r>
            <a:endParaRPr b="1" sz="2000">
              <a:solidFill>
                <a:schemeClr val="accent6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74" name="Google Shape;74;p21"/>
          <p:cNvSpPr txBox="1"/>
          <p:nvPr/>
        </p:nvSpPr>
        <p:spPr>
          <a:xfrm>
            <a:off x="789300" y="38796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</a:t>
            </a:r>
            <a:r>
              <a:rPr b="1"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uincena 01/Abril - 15/Abril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22"/>
          <p:cNvGraphicFramePr/>
          <p:nvPr/>
        </p:nvGraphicFramePr>
        <p:xfrm>
          <a:off x="241450" y="225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{9513E877-C126-4758-9FD7-9134939057FE}</a:tableStyleId>
              </a:tblPr>
              <a:tblGrid>
                <a:gridCol w="464075"/>
                <a:gridCol w="2240500"/>
                <a:gridCol w="1484225"/>
                <a:gridCol w="881075"/>
              </a:tblGrid>
              <a:tr h="39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</a:t>
                      </a:r>
                      <a:endParaRPr b="1" sz="12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Resto incidencia abiertas</a:t>
                      </a:r>
                      <a:endParaRPr b="1" sz="12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Nuevas</a:t>
                      </a:r>
                      <a:endParaRPr b="1" sz="12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 b="1" sz="12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001391"/>
                    </a:solidFill>
                  </a:tcPr>
                </a:tc>
              </a:tr>
              <a:tr h="4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Transferencias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 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DB7B7">
                        <a:alpha val="27669"/>
                      </a:srgbClr>
                    </a:solidFill>
                  </a:tcPr>
                </a:tc>
              </a:tr>
              <a:tr h="4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Monetarias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DB7B7">
                        <a:alpha val="27669"/>
                      </a:srgbClr>
                    </a:solidFill>
                  </a:tcPr>
                </a:tc>
              </a:tr>
              <a:tr h="4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Notificaciones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</a:t>
                      </a: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DB7B7">
                        <a:alpha val="27669"/>
                      </a:srgbClr>
                    </a:solidFill>
                  </a:tcPr>
                </a:tc>
              </a:tr>
              <a:tr h="4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 token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</a:t>
                      </a: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DB7B7">
                        <a:alpha val="27669"/>
                      </a:srgbClr>
                    </a:solidFill>
                  </a:tcPr>
                </a:tc>
              </a:tr>
              <a:tr h="4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Otros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</a:t>
                      </a:r>
                      <a:endParaRPr sz="12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154</a:t>
                      </a: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DB7B7">
                        <a:alpha val="276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22"/>
          <p:cNvSpPr/>
          <p:nvPr/>
        </p:nvSpPr>
        <p:spPr>
          <a:xfrm>
            <a:off x="241450" y="670350"/>
            <a:ext cx="8558700" cy="1405200"/>
          </a:xfrm>
          <a:prstGeom prst="roundRect">
            <a:avLst>
              <a:gd fmla="val 43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0" lIns="18000" spcFirstLastPara="1" rIns="18000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Top tres</a:t>
            </a:r>
            <a:r>
              <a:rPr b="1"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 de las incidencias por funcionalidad identificadas en la quincena 01/Abril - 15/Abril</a:t>
            </a:r>
            <a:endParaRPr b="1"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22"/>
          <p:cNvSpPr txBox="1"/>
          <p:nvPr/>
        </p:nvSpPr>
        <p:spPr>
          <a:xfrm>
            <a:off x="241450" y="83550"/>
            <a:ext cx="89025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Seguimiento de KPIs - Incidencias criticas por funcionalidad </a:t>
            </a:r>
            <a:endParaRPr b="1" sz="2200">
              <a:solidFill>
                <a:srgbClr val="04138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419900" y="1054725"/>
            <a:ext cx="2581800" cy="855000"/>
          </a:xfrm>
          <a:prstGeom prst="roundRect">
            <a:avLst>
              <a:gd fmla="val 1819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180000" lIns="108000" spcFirstLastPara="1" rIns="108000" wrap="square" tIns="7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22"/>
          <p:cNvSpPr txBox="1"/>
          <p:nvPr/>
        </p:nvSpPr>
        <p:spPr>
          <a:xfrm>
            <a:off x="572900" y="1260365"/>
            <a:ext cx="2701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3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</a:t>
            </a:r>
            <a:r>
              <a:rPr b="1" lang="es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INCIDENCIAS </a:t>
            </a: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ALTAS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ABIERTAS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22"/>
          <p:cNvSpPr txBox="1"/>
          <p:nvPr/>
        </p:nvSpPr>
        <p:spPr>
          <a:xfrm>
            <a:off x="3585800" y="1074675"/>
            <a:ext cx="4619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6 </a:t>
            </a:r>
            <a:r>
              <a:rPr lang="es" sz="1300">
                <a:solidFill>
                  <a:srgbClr val="04138B"/>
                </a:solidFill>
                <a:latin typeface="Lato Light"/>
                <a:ea typeface="Lato Light"/>
                <a:cs typeface="Lato Light"/>
                <a:sym typeface="Lato Light"/>
              </a:rPr>
              <a:t>incidencias nuevas en </a:t>
            </a: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Login y acceso (acumuladas 25)</a:t>
            </a:r>
            <a:endParaRPr b="1" sz="13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" name="Google Shape;85;p22"/>
          <p:cNvCxnSpPr>
            <a:stCxn id="84" idx="1"/>
            <a:endCxn id="82" idx="3"/>
          </p:cNvCxnSpPr>
          <p:nvPr/>
        </p:nvCxnSpPr>
        <p:spPr>
          <a:xfrm flipH="1">
            <a:off x="3001700" y="1183875"/>
            <a:ext cx="584100" cy="298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4137B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" name="Google Shape;86;p22"/>
          <p:cNvSpPr txBox="1"/>
          <p:nvPr/>
        </p:nvSpPr>
        <p:spPr>
          <a:xfrm>
            <a:off x="3585800" y="1704075"/>
            <a:ext cx="4619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3 </a:t>
            </a: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300">
                <a:solidFill>
                  <a:srgbClr val="04138B"/>
                </a:solidFill>
                <a:latin typeface="Lato Light"/>
                <a:ea typeface="Lato Light"/>
                <a:cs typeface="Lato Light"/>
                <a:sym typeface="Lato Light"/>
              </a:rPr>
              <a:t>incidencias nuevas en  </a:t>
            </a: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Crédito (acumuladas 36)</a:t>
            </a:r>
            <a:endParaRPr b="1" sz="13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" name="Google Shape;87;p22"/>
          <p:cNvCxnSpPr>
            <a:stCxn id="86" idx="1"/>
            <a:endCxn id="82" idx="3"/>
          </p:cNvCxnSpPr>
          <p:nvPr/>
        </p:nvCxnSpPr>
        <p:spPr>
          <a:xfrm rot="10800000">
            <a:off x="3001700" y="1482375"/>
            <a:ext cx="584100" cy="330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4137B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" name="Google Shape;88;p22"/>
          <p:cNvSpPr txBox="1"/>
          <p:nvPr/>
        </p:nvSpPr>
        <p:spPr>
          <a:xfrm>
            <a:off x="3585800" y="1373015"/>
            <a:ext cx="4619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300">
                <a:solidFill>
                  <a:srgbClr val="04138B"/>
                </a:solidFill>
                <a:latin typeface="Lato Light"/>
                <a:ea typeface="Lato Light"/>
                <a:cs typeface="Lato Light"/>
                <a:sym typeface="Lato Light"/>
              </a:rPr>
              <a:t>incidencias nuevas en </a:t>
            </a: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Tareas (acumuladas 46)</a:t>
            </a:r>
            <a:endParaRPr b="1" sz="13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" name="Google Shape;89;p22"/>
          <p:cNvCxnSpPr>
            <a:stCxn id="88" idx="1"/>
            <a:endCxn id="82" idx="3"/>
          </p:cNvCxnSpPr>
          <p:nvPr/>
        </p:nvCxnSpPr>
        <p:spPr>
          <a:xfrm flipH="1">
            <a:off x="3001700" y="1482215"/>
            <a:ext cx="5841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4137B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0" name="Google Shape;90;p22"/>
          <p:cNvSpPr/>
          <p:nvPr/>
        </p:nvSpPr>
        <p:spPr>
          <a:xfrm>
            <a:off x="5607925" y="2456250"/>
            <a:ext cx="3192300" cy="2496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180000" lIns="36000" spcFirstLastPara="1" rIns="3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391"/>
              </a:solidFill>
              <a:latin typeface="Source Serif 4 Black"/>
              <a:ea typeface="Source Serif 4 Black"/>
              <a:cs typeface="Source Serif 4 Black"/>
              <a:sym typeface="Source Serif 4 Black"/>
            </a:endParaRPr>
          </a:p>
        </p:txBody>
      </p:sp>
      <p:sp>
        <p:nvSpPr>
          <p:cNvPr id="91" name="Google Shape;91;p22"/>
          <p:cNvSpPr txBox="1"/>
          <p:nvPr/>
        </p:nvSpPr>
        <p:spPr>
          <a:xfrm>
            <a:off x="6122125" y="2804950"/>
            <a:ext cx="235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Incidencias en la quincena en ready to </a:t>
            </a:r>
            <a:r>
              <a:rPr b="1" lang="es" sz="12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verify</a:t>
            </a:r>
            <a:r>
              <a:rPr b="1" lang="es" sz="12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 : [Numero] / dias promedio </a:t>
            </a:r>
            <a:endParaRPr sz="1200">
              <a:solidFill>
                <a:srgbClr val="04138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92" name="Google Shape;92;p22" title="r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905" y="2760844"/>
            <a:ext cx="306908" cy="2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2" title="r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905" y="3337030"/>
            <a:ext cx="306908" cy="2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2" title="r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905" y="3886872"/>
            <a:ext cx="306908" cy="2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2" title="r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905" y="4436714"/>
            <a:ext cx="306908" cy="298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/>
          <p:nvPr/>
        </p:nvSpPr>
        <p:spPr>
          <a:xfrm>
            <a:off x="6274725" y="2275650"/>
            <a:ext cx="1810200" cy="361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2A7BF4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mitigación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22"/>
          <p:cNvSpPr txBox="1"/>
          <p:nvPr/>
        </p:nvSpPr>
        <p:spPr>
          <a:xfrm>
            <a:off x="6122125" y="3365175"/>
            <a:ext cx="235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Incidencias en New : [Número] / dias promedio</a:t>
            </a:r>
            <a:endParaRPr sz="1200">
              <a:solidFill>
                <a:srgbClr val="04138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6122125" y="3912725"/>
            <a:ext cx="235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Incidencias criticas bloqueadas: [Número] / dias promedio</a:t>
            </a:r>
            <a:endParaRPr sz="1200">
              <a:solidFill>
                <a:srgbClr val="04138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" name="Google Shape;99;p22"/>
          <p:cNvSpPr txBox="1"/>
          <p:nvPr/>
        </p:nvSpPr>
        <p:spPr>
          <a:xfrm>
            <a:off x="6122125" y="4480825"/>
            <a:ext cx="235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Resto de incidencias : [Numero no altas] / dias promedio </a:t>
            </a:r>
            <a:endParaRPr sz="1200">
              <a:solidFill>
                <a:srgbClr val="04138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241450" y="83550"/>
            <a:ext cx="89025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Incidenci</a:t>
            </a: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as, en </a:t>
            </a: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Login y acceso, abiertas en la quincena</a:t>
            </a:r>
            <a:endParaRPr b="1" sz="2200">
              <a:solidFill>
                <a:srgbClr val="04138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105" name="Google Shape;105;p23"/>
          <p:cNvGraphicFramePr/>
          <p:nvPr/>
        </p:nvGraphicFramePr>
        <p:xfrm>
          <a:off x="522200" y="1506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{9513E877-C126-4758-9FD7-9134939057FE}</a:tableStyleId>
              </a:tblPr>
              <a:tblGrid>
                <a:gridCol w="1169750"/>
                <a:gridCol w="3123625"/>
                <a:gridCol w="993200"/>
                <a:gridCol w="980250"/>
                <a:gridCol w="800400"/>
                <a:gridCol w="940075"/>
              </a:tblGrid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 Incidencia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Descripción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Causa raíz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Criticidad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Días abierta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3"/>
                        </a:rPr>
                        <a:t>MEXBMI1-283554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[INCIDENTES] Desde el menú lateral de un cliente tipo BEC, permite navegar al dashboard de PyME</a:t>
                      </a:r>
                      <a:endParaRPr sz="1800">
                        <a:solidFill>
                          <a:srgbClr val="172B4D"/>
                        </a:solidFill>
                        <a:highlight>
                          <a:srgbClr val="F1F2F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TBD:tipo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Ready to verify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días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etc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23"/>
          <p:cNvSpPr/>
          <p:nvPr/>
        </p:nvSpPr>
        <p:spPr>
          <a:xfrm>
            <a:off x="491000" y="637396"/>
            <a:ext cx="8069700" cy="456600"/>
          </a:xfrm>
          <a:prstGeom prst="roundRect">
            <a:avLst>
              <a:gd fmla="val 16667" name="adj"/>
            </a:avLst>
          </a:prstGeom>
          <a:solidFill>
            <a:srgbClr val="D4EEFC"/>
          </a:solidFill>
          <a:ln>
            <a:noFill/>
          </a:ln>
        </p:spPr>
        <p:txBody>
          <a:bodyPr anchorCtr="0" anchor="ctr" bIns="91425" lIns="37800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Las 6 incidencias  fueron causadas por autentificación y sesión</a:t>
            </a:r>
            <a:endParaRPr b="1" sz="1200">
              <a:solidFill>
                <a:srgbClr val="04147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07" name="Google Shape;107;p23"/>
          <p:cNvSpPr txBox="1"/>
          <p:nvPr/>
        </p:nvSpPr>
        <p:spPr>
          <a:xfrm>
            <a:off x="522200" y="1227075"/>
            <a:ext cx="4619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Zoom de incidencias criticas del periodo:</a:t>
            </a:r>
            <a:endParaRPr b="1" sz="13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241450" y="83550"/>
            <a:ext cx="89025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Incidencias, en Tareas, abiertas en la quincena</a:t>
            </a:r>
            <a:endParaRPr b="1" sz="2200">
              <a:solidFill>
                <a:srgbClr val="04138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113" name="Google Shape;113;p24"/>
          <p:cNvGraphicFramePr/>
          <p:nvPr/>
        </p:nvGraphicFramePr>
        <p:xfrm>
          <a:off x="522200" y="1506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{9513E877-C126-4758-9FD7-9134939057FE}</a:tableStyleId>
              </a:tblPr>
              <a:tblGrid>
                <a:gridCol w="1169750"/>
                <a:gridCol w="3123625"/>
                <a:gridCol w="993200"/>
                <a:gridCol w="980250"/>
                <a:gridCol w="800400"/>
                <a:gridCol w="940075"/>
              </a:tblGrid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 Incidencia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Descripción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Causa raíz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Criticidad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Días abierta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3"/>
                        </a:rPr>
                        <a:t>MEXBMI1-283554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[INCIDENTES] Desde el menú lateral de un cliente tipo BEC, permite navegar al dashboard de PyME</a:t>
                      </a:r>
                      <a:endParaRPr sz="1800">
                        <a:solidFill>
                          <a:srgbClr val="172B4D"/>
                        </a:solidFill>
                        <a:highlight>
                          <a:srgbClr val="F1F2F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TBD:tipo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Ready to verify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días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etc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24"/>
          <p:cNvSpPr/>
          <p:nvPr/>
        </p:nvSpPr>
        <p:spPr>
          <a:xfrm>
            <a:off x="491000" y="637396"/>
            <a:ext cx="8069700" cy="456600"/>
          </a:xfrm>
          <a:prstGeom prst="roundRect">
            <a:avLst>
              <a:gd fmla="val 16667" name="adj"/>
            </a:avLst>
          </a:prstGeom>
          <a:solidFill>
            <a:srgbClr val="D4EEFC"/>
          </a:solidFill>
          <a:ln>
            <a:noFill/>
          </a:ln>
        </p:spPr>
        <p:txBody>
          <a:bodyPr anchorCtr="0" anchor="ctr" bIns="91425" lIns="37800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incidencias  fueron causadas por Visualizaci</a:t>
            </a: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ón / UI</a:t>
            </a:r>
            <a:endParaRPr b="1" sz="1200">
              <a:solidFill>
                <a:srgbClr val="04147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15" name="Google Shape;115;p24"/>
          <p:cNvSpPr txBox="1"/>
          <p:nvPr/>
        </p:nvSpPr>
        <p:spPr>
          <a:xfrm>
            <a:off x="522200" y="1227075"/>
            <a:ext cx="4619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Zoom de incidencias crtiticas del periodo:</a:t>
            </a:r>
            <a:endParaRPr b="1" sz="13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241450" y="83550"/>
            <a:ext cx="89025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Incidencias, en Cr</a:t>
            </a: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édito</a:t>
            </a:r>
            <a:r>
              <a:rPr b="1" lang="es" sz="2200">
                <a:solidFill>
                  <a:srgbClr val="04138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abiertas en la quincena</a:t>
            </a:r>
            <a:endParaRPr b="1" sz="2200">
              <a:solidFill>
                <a:srgbClr val="04138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121" name="Google Shape;121;p25"/>
          <p:cNvGraphicFramePr/>
          <p:nvPr/>
        </p:nvGraphicFramePr>
        <p:xfrm>
          <a:off x="522200" y="1506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{9513E877-C126-4758-9FD7-9134939057FE}</a:tableStyleId>
              </a:tblPr>
              <a:tblGrid>
                <a:gridCol w="1169750"/>
                <a:gridCol w="3123625"/>
                <a:gridCol w="993200"/>
                <a:gridCol w="980250"/>
                <a:gridCol w="800400"/>
                <a:gridCol w="940075"/>
              </a:tblGrid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 Incidencia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Descripción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Causa raíz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Criticidad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Días abierta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3"/>
                        </a:rPr>
                        <a:t>MEXBMI1-283554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[INCIDENTES] Desde el menú lateral de un cliente tipo BEC, permite navegar al dashboard de PyME</a:t>
                      </a:r>
                      <a:endParaRPr sz="1800">
                        <a:solidFill>
                          <a:srgbClr val="172B4D"/>
                        </a:solidFill>
                        <a:highlight>
                          <a:srgbClr val="F1F2F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TBD:tipo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Ready to verify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días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etc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….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25"/>
          <p:cNvSpPr/>
          <p:nvPr/>
        </p:nvSpPr>
        <p:spPr>
          <a:xfrm>
            <a:off x="491000" y="637396"/>
            <a:ext cx="8069700" cy="456600"/>
          </a:xfrm>
          <a:prstGeom prst="roundRect">
            <a:avLst>
              <a:gd fmla="val 16667" name="adj"/>
            </a:avLst>
          </a:prstGeom>
          <a:solidFill>
            <a:srgbClr val="D4EEFC"/>
          </a:solidFill>
          <a:ln>
            <a:noFill/>
          </a:ln>
        </p:spPr>
        <p:txBody>
          <a:bodyPr anchorCtr="0" anchor="ctr" bIns="91425" lIns="37800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</a:t>
            </a: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incidencias  fueron causadas Visualizacion / UI y otras 2 por integraci</a:t>
            </a:r>
            <a:r>
              <a:rPr b="1" lang="es" sz="1200">
                <a:solidFill>
                  <a:srgbClr val="0414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ón API</a:t>
            </a:r>
            <a:endParaRPr b="1" sz="1200">
              <a:solidFill>
                <a:srgbClr val="04147B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522200" y="1227075"/>
            <a:ext cx="4619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E43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04138B"/>
                </a:solidFill>
                <a:latin typeface="Lato"/>
                <a:ea typeface="Lato"/>
                <a:cs typeface="Lato"/>
                <a:sym typeface="Lato"/>
              </a:rPr>
              <a:t>Zoom de incidencias criticas del periodo:</a:t>
            </a:r>
            <a:endParaRPr b="1" sz="1300">
              <a:solidFill>
                <a:srgbClr val="0413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60E46"/>
      </a:dk2>
      <a:lt2>
        <a:srgbClr val="F7F8F8"/>
      </a:lt2>
      <a:accent1>
        <a:srgbClr val="85C8FF"/>
      </a:accent1>
      <a:accent2>
        <a:srgbClr val="212121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